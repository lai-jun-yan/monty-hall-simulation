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430F3D-DF9D-76BF-EC05-10D44C2F0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FEB173-6E1D-C890-0DCE-9A1103CD9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D993D7-F1DC-D400-AB71-D89E4810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52B38F-021C-E38D-EB5E-92E2F77B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32A271-6314-1050-D750-84F06AAA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350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AF42DD-C958-00C5-EB25-3E501308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D525C6-E9C6-F7AD-3859-127C75CD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29C73F-931C-118E-B211-797BF8A8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813B2C-4831-6DD5-2C31-317910C3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8345FC-3060-B8B8-0FAE-489F54D0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26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EF40F-703F-8977-48A8-434D4180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853EBB-F0F3-8E8A-8B66-4649EA57D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534432-FABD-5526-39AE-02B23C88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9AA32B-8C2A-F3C5-01C8-21C5108A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0B3D22-E7A8-F143-51F9-524F2655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0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646B1-3984-4614-DEFF-DCE99DA2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1C0EF0-7AC4-1D9F-995D-187AAEEF2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9F43AD-8BD9-161D-89E0-8C99BC60F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FCADE2-4DF2-3F32-D3D9-A8497E73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56D3A7-C80E-6C3A-4FF3-E106DD9D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5556D8-E618-E19D-BC47-ADF78C08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02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F7D71-1EBB-6F63-9C22-6F8A0715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014265-1DB4-D792-49E9-5B38513D8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BCC611E-F33F-3808-A899-185643376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A0BC31-2D4E-1583-2FC7-120C3008D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974D57-191D-9E3D-5E8E-203266F88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AF8BEBE-89A5-1D27-75BC-69ED91BA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D6F51FC-59DA-5E80-11C1-3A942E98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6D16BE-E968-304D-485B-45194144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46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BF4F91-74A7-C2EA-EC95-5FD7E317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E491A4-EE4E-2913-7BA9-37A76C16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9FCE6B-5E86-48EE-5ECE-ACFA2868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684561-2865-8229-7552-341B9503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44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39CCB7E-8E33-8C8E-E7D3-412CC6B1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576F09-F551-F09C-7FD7-ED6254F0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8F2F7-FCE6-A06E-2776-42A0F4C9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57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789BD-A9B2-AD91-BF1B-4CF60E4A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17814-6DE8-AA40-70CC-8F2121502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527901-D522-50C9-B58F-2F940009D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8B906B-85F6-61DF-4307-6B898E52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A8BD70-F032-90A4-E2DA-ACEEC890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B860BD-B861-8B4D-4259-B1704CA4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087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F0AAE8-B49F-4DA6-BFA6-8A815F28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1B5567-DC86-F57E-C0B8-81EC22A79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421A4A-85D7-4EAA-2471-029E38F30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48EB6F-0886-2453-E48F-A0A56EC6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959D69-ECE1-32AE-FC1A-72D811E9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DC5E8B-3228-3161-4D2C-5F70DEE0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1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A4FEA-AFAF-331F-8D24-5C854CA5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111A3D-173F-63D0-EE04-24F2EC024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B21BF0-843A-9616-CC74-7EB731CCE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0C8B67-0562-0731-092A-F0BB17CD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11590A-7F57-944A-D56D-38CA3DD8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92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C83E4D-5440-155A-AD7C-265CCC033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02CB1B-7700-C061-E331-117F9C973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C0B5B1-2CE5-1810-550B-2B4DCDC8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812DE5-CAD6-0789-F7C3-C7B615E91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AD5E98-E988-4B8D-94AC-F4C604DA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5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D9AF3F-F7C3-3516-5675-AC306D54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1C37C3-5826-4D2A-D961-61CC0EC3A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A94939-DC2B-ADF4-F60F-64C73DFA5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EC7CD-0132-46A9-805B-E798C8C14E8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70E65D-165F-E7E7-4C93-9351DC998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653B26-3CFD-DA6B-F400-112A1F368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7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01ADE5-D822-535E-FB85-912A66398F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統計計算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426C8B-1F33-B9EC-B751-14D622A5F0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賴俊延 林采宣</a:t>
            </a:r>
          </a:p>
        </p:txBody>
      </p:sp>
    </p:spTree>
    <p:extLst>
      <p:ext uri="{BB962C8B-B14F-4D97-AF65-F5344CB8AC3E}">
        <p14:creationId xmlns:p14="http://schemas.microsoft.com/office/powerpoint/2010/main" val="428633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EFD0CC-C205-117C-D1C2-3A87A61F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75E865-0F02-3CD2-814C-FA241DC8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06" y="1735357"/>
            <a:ext cx="6416967" cy="46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9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138D2-7B20-35C1-DEDA-E15551E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868441-1C5C-769B-DC96-8A3C09AA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9E6D6E5-EB2B-6C51-26F7-D992CE97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64" y="1840832"/>
            <a:ext cx="6425886" cy="465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8056-4B0E-3F91-83BB-F5CE0CD8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131E7-9D31-0160-EC54-C566688B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619283-1AFC-8B7F-0D76-10B61004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261" y="1807779"/>
            <a:ext cx="6801477" cy="456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9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AB759-D638-BEF0-56D4-B73A30A3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303D47-C5C2-C7AD-6A01-75CCA5F1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0AF7C7F-548F-A280-F268-52B0E903B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02" y="1690688"/>
            <a:ext cx="6149747" cy="411483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E916A37-E6B8-0FB0-9301-C678D187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780231"/>
              </p:ext>
            </p:extLst>
          </p:nvPr>
        </p:nvGraphicFramePr>
        <p:xfrm>
          <a:off x="6631958" y="2508008"/>
          <a:ext cx="51330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005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71100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711005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317201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Var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317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內建的函數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0.333476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0.0002325059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317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0.332992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0.0002223783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547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 with controlling var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0.333429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0.0001163433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B0893D44-E615-E39B-2469-B5A8A6982E59}"/>
              </a:ext>
            </a:extLst>
          </p:cNvPr>
          <p:cNvSpPr txBox="1"/>
          <p:nvPr/>
        </p:nvSpPr>
        <p:spPr>
          <a:xfrm>
            <a:off x="6556973" y="5006753"/>
            <a:ext cx="5549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Variance reduction = 47.68226</a:t>
            </a:r>
            <a:r>
              <a:rPr lang="zh-TW" altLang="en-US" sz="2400" dirty="0"/>
              <a:t> </a:t>
            </a:r>
            <a:r>
              <a:rPr lang="en-US" altLang="zh-TW" sz="2400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71765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9122F-7C5E-0B16-8E80-00854308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1BCF6-A318-6903-FB9F-AE12CE87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換門選到跑車的機率估計值分布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F8968E-141C-BE08-510D-61A9FF68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039" y="1690688"/>
            <a:ext cx="7131741" cy="468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9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E549A-B877-38A5-871C-2F415C15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A24B85-DFDD-FE02-FBD4-DA9A9AB1D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換門選到跑車的機率估計值分布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11C4616-12E6-FEC4-3747-3FEE476BC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01" y="1816812"/>
            <a:ext cx="6761529" cy="434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35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6344-36A4-7549-6CB3-49767817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7B00DA-5128-36BA-113F-3BF2D433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換門選到跑車的機率估計值分布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011E1F3-5A75-67C1-FBA5-958989FE9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518" y="1587062"/>
            <a:ext cx="7124522" cy="490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7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FE065-1083-E3AA-89D2-48DFFEBB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87F900-06DA-417E-F0A2-6F535EBD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換門選到跑車的機率估計值分布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5BCFDE0-6EDE-8F8F-A93B-A94BFABFA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79" y="1948027"/>
            <a:ext cx="7106608" cy="3470867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5A1E40-B754-2C2C-3A0F-8B998A52A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220196"/>
              </p:ext>
            </p:extLst>
          </p:nvPr>
        </p:nvGraphicFramePr>
        <p:xfrm>
          <a:off x="7456349" y="1814536"/>
          <a:ext cx="446950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836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489836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489836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323693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Var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3236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內建的函數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0.666337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0.0002281916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3236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0.666547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0.0002395794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558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 with controlling var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0.667157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0.0001117501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F62C18D-4D45-A946-7FC7-EEC004040125}"/>
              </a:ext>
            </a:extLst>
          </p:cNvPr>
          <p:cNvSpPr txBox="1"/>
          <p:nvPr/>
        </p:nvSpPr>
        <p:spPr>
          <a:xfrm>
            <a:off x="7456349" y="4957229"/>
            <a:ext cx="453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Variance reduction = 47.47977%</a:t>
            </a:r>
          </a:p>
        </p:txBody>
      </p:sp>
    </p:spTree>
    <p:extLst>
      <p:ext uri="{BB962C8B-B14F-4D97-AF65-F5344CB8AC3E}">
        <p14:creationId xmlns:p14="http://schemas.microsoft.com/office/powerpoint/2010/main" val="972903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B529A-3711-E449-E949-CF78506B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38731B-FB1B-E71D-6971-5FC80C05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</a:t>
            </a:r>
            <a:r>
              <a:rPr lang="en-US" altLang="zh-TW" dirty="0"/>
              <a:t>bootstrap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C04CD31-E58F-A599-9C8F-0CBA9E39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1247"/>
            <a:ext cx="6698216" cy="5111628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4067146-CC14-C1C9-4C9B-61DAB749A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59900"/>
              </p:ext>
            </p:extLst>
          </p:nvPr>
        </p:nvGraphicFramePr>
        <p:xfrm>
          <a:off x="5938344" y="3429000"/>
          <a:ext cx="5962868" cy="132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717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490717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490717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  <a:gridCol w="1490717">
                  <a:extLst>
                    <a:ext uri="{9D8B030D-6E8A-4147-A177-3AD203B41FA5}">
                      <a16:colId xmlns:a16="http://schemas.microsoft.com/office/drawing/2014/main" val="1012104654"/>
                    </a:ext>
                  </a:extLst>
                </a:gridCol>
              </a:tblGrid>
              <a:tr h="502857">
                <a:tc>
                  <a:txBody>
                    <a:bodyPr/>
                    <a:lstStyle/>
                    <a:p>
                      <a:pPr algn="ctr"/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std.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8227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boostrap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0.6667018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2.51497e-07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3.550272e-05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67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C37E-C445-183E-3B38-D86BA081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F94FEA-EE65-A5F9-1DCF-758820CD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</a:t>
            </a:r>
            <a:r>
              <a:rPr lang="en-US" altLang="zh-TW" dirty="0" err="1"/>
              <a:t>jacknife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7A3A811-8555-30A2-331E-642692DC6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25" y="1860331"/>
            <a:ext cx="7615205" cy="3871795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F7F677F-7A99-589A-149F-1B4CA7C8F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287789"/>
              </p:ext>
            </p:extLst>
          </p:nvPr>
        </p:nvGraphicFramePr>
        <p:xfrm>
          <a:off x="5738649" y="3351650"/>
          <a:ext cx="6348248" cy="132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062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1012104654"/>
                    </a:ext>
                  </a:extLst>
                </a:gridCol>
              </a:tblGrid>
              <a:tr h="502857">
                <a:tc>
                  <a:txBody>
                    <a:bodyPr/>
                    <a:lstStyle/>
                    <a:p>
                      <a:pPr algn="ctr"/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std.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8227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Jacknife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3.558749e-05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56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470C-942F-50EF-BB2C-301A31C4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C53A5-707F-4306-DDCD-A2C176C6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換門與不換門選到跑車的機率是否有差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B8EA847-9F59-F906-4012-B8F72ACBC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37" y="1877042"/>
            <a:ext cx="9039726" cy="4507192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D14FB93-EA99-6085-49E0-7EA2ABC2D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34159"/>
              </p:ext>
            </p:extLst>
          </p:nvPr>
        </p:nvGraphicFramePr>
        <p:xfrm>
          <a:off x="3547770" y="3983752"/>
          <a:ext cx="7197964" cy="132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491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1012104654"/>
                    </a:ext>
                  </a:extLst>
                </a:gridCol>
              </a:tblGrid>
              <a:tr h="502857">
                <a:tc>
                  <a:txBody>
                    <a:bodyPr/>
                    <a:lstStyle/>
                    <a:p>
                      <a:pPr algn="ctr"/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std.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8227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Jacknife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0.0001991734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0.333292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0.007416886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225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28756-F771-CD75-6EE2-059E33FD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A078E2-DFBD-521C-F7B6-59B366924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MCMC</a:t>
            </a:r>
            <a:r>
              <a:rPr lang="zh-TW" altLang="en-US" dirty="0"/>
              <a:t>估計換門的勝率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F0CB0EF-6BB0-7696-FAB6-C8B5DB836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48" y="1407794"/>
            <a:ext cx="8150497" cy="404241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934B2A-18C0-CA38-B66F-0C20CDEE6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637344"/>
              </p:ext>
            </p:extLst>
          </p:nvPr>
        </p:nvGraphicFramePr>
        <p:xfrm>
          <a:off x="8481213" y="4761143"/>
          <a:ext cx="3573420" cy="1240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355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89335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893355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  <a:gridCol w="893355">
                  <a:extLst>
                    <a:ext uri="{9D8B030D-6E8A-4147-A177-3AD203B41FA5}">
                      <a16:colId xmlns:a16="http://schemas.microsoft.com/office/drawing/2014/main" val="1012104654"/>
                    </a:ext>
                  </a:extLst>
                </a:gridCol>
              </a:tblGrid>
              <a:tr h="542703"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N_iter</a:t>
                      </a:r>
                      <a:endParaRPr lang="en-US" altLang="zh-TW" sz="12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Porb</a:t>
                      </a:r>
                      <a:r>
                        <a:rPr lang="en-US" altLang="zh-TW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_Start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proposal </a:t>
                      </a:r>
                      <a:r>
                        <a:rPr lang="en-US" altLang="zh-TW" sz="1200" dirty="0" err="1">
                          <a:solidFill>
                            <a:schemeClr val="tx1"/>
                          </a:solidFill>
                        </a:rPr>
                        <a:t>sd</a:t>
                      </a:r>
                      <a:endParaRPr lang="en-US" altLang="zh-TW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6975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 </a:t>
                      </a:r>
                      <a:endParaRPr lang="zh-TW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10000</a:t>
                      </a:r>
                      <a:endParaRPr lang="en-US" altLang="zh-TW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189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0DD20-2ADD-EC2A-0692-B35AB134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樹狀圖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6939BA04-CB6D-245C-8234-644B782576C0}"/>
              </a:ext>
            </a:extLst>
          </p:cNvPr>
          <p:cNvSpPr/>
          <p:nvPr/>
        </p:nvSpPr>
        <p:spPr>
          <a:xfrm rot="19599261">
            <a:off x="4057998" y="2503038"/>
            <a:ext cx="1173949" cy="23671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84ED3043-9630-1085-C82E-F02E58A71C39}"/>
              </a:ext>
            </a:extLst>
          </p:cNvPr>
          <p:cNvSpPr/>
          <p:nvPr/>
        </p:nvSpPr>
        <p:spPr>
          <a:xfrm rot="1450683">
            <a:off x="4025061" y="4423800"/>
            <a:ext cx="1173949" cy="2580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C40B2B22-740C-827B-93AE-5AF759499A08}"/>
              </a:ext>
            </a:extLst>
          </p:cNvPr>
          <p:cNvSpPr/>
          <p:nvPr/>
        </p:nvSpPr>
        <p:spPr>
          <a:xfrm rot="19599551">
            <a:off x="6380068" y="1171894"/>
            <a:ext cx="1173949" cy="2052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0E7B9993-EEEC-026D-CC0F-C3A2F0CA1EA1}"/>
              </a:ext>
            </a:extLst>
          </p:cNvPr>
          <p:cNvSpPr/>
          <p:nvPr/>
        </p:nvSpPr>
        <p:spPr>
          <a:xfrm rot="1448578">
            <a:off x="6411991" y="2742778"/>
            <a:ext cx="1173949" cy="2105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02BC395-95C1-DAD6-859E-7F4F46197EA8}"/>
              </a:ext>
            </a:extLst>
          </p:cNvPr>
          <p:cNvSpPr txBox="1"/>
          <p:nvPr/>
        </p:nvSpPr>
        <p:spPr>
          <a:xfrm>
            <a:off x="5408666" y="1964188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964E82C-BE5A-C7B6-E797-949A14E60671}"/>
              </a:ext>
            </a:extLst>
          </p:cNvPr>
          <p:cNvSpPr txBox="1"/>
          <p:nvPr/>
        </p:nvSpPr>
        <p:spPr>
          <a:xfrm>
            <a:off x="5569213" y="4862447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E325F4A2-70E9-7248-C026-B7C959EDC59B}"/>
              </a:ext>
            </a:extLst>
          </p:cNvPr>
          <p:cNvSpPr/>
          <p:nvPr/>
        </p:nvSpPr>
        <p:spPr>
          <a:xfrm rot="19599551">
            <a:off x="6404654" y="4311173"/>
            <a:ext cx="1173949" cy="2052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3F650353-574C-BA18-034B-BFFF41ED1083}"/>
              </a:ext>
            </a:extLst>
          </p:cNvPr>
          <p:cNvSpPr/>
          <p:nvPr/>
        </p:nvSpPr>
        <p:spPr>
          <a:xfrm rot="1448578">
            <a:off x="6411991" y="5648854"/>
            <a:ext cx="1173949" cy="2105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BDD7CBF-3130-1960-9836-2793362E864B}"/>
              </a:ext>
            </a:extLst>
          </p:cNvPr>
          <p:cNvSpPr txBox="1"/>
          <p:nvPr/>
        </p:nvSpPr>
        <p:spPr>
          <a:xfrm>
            <a:off x="2965150" y="3369669"/>
            <a:ext cx="97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Choice 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5B9A18E-D40D-6DFF-2309-D75DB43D8244}"/>
              </a:ext>
            </a:extLst>
          </p:cNvPr>
          <p:cNvSpPr txBox="1"/>
          <p:nvPr/>
        </p:nvSpPr>
        <p:spPr>
          <a:xfrm>
            <a:off x="7917640" y="681506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C55DC75-4396-B20A-1A5E-393707DB341B}"/>
              </a:ext>
            </a:extLst>
          </p:cNvPr>
          <p:cNvSpPr txBox="1"/>
          <p:nvPr/>
        </p:nvSpPr>
        <p:spPr>
          <a:xfrm>
            <a:off x="7924799" y="2885759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 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1D5EEAC-8B1F-669F-6286-08E124DD6DED}"/>
              </a:ext>
            </a:extLst>
          </p:cNvPr>
          <p:cNvSpPr txBox="1"/>
          <p:nvPr/>
        </p:nvSpPr>
        <p:spPr>
          <a:xfrm>
            <a:off x="7924799" y="5905644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3067A1E-7294-B37F-7C69-E35311B0789B}"/>
              </a:ext>
            </a:extLst>
          </p:cNvPr>
          <p:cNvSpPr txBox="1"/>
          <p:nvPr/>
        </p:nvSpPr>
        <p:spPr>
          <a:xfrm>
            <a:off x="7924799" y="3876697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 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5F0CDA0-2206-F279-E911-C0573F5B9332}"/>
              </a:ext>
            </a:extLst>
          </p:cNvPr>
          <p:cNvSpPr txBox="1"/>
          <p:nvPr/>
        </p:nvSpPr>
        <p:spPr>
          <a:xfrm>
            <a:off x="4301305" y="1964188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2/3  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CE7E9BC-6F0B-F9F6-9188-DBB5CBBD8C56}"/>
              </a:ext>
            </a:extLst>
          </p:cNvPr>
          <p:cNvSpPr txBox="1"/>
          <p:nvPr/>
        </p:nvSpPr>
        <p:spPr>
          <a:xfrm>
            <a:off x="4301305" y="3920773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1/3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0919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3700-69F4-645B-5103-567A6DCD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350EBF-7D2F-989B-08C4-13F7A0B8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換門的勝率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5EACAF8-C4E7-30AF-4E0A-3DB02A5CD1DF}"/>
              </a:ext>
            </a:extLst>
          </p:cNvPr>
          <p:cNvSpPr txBox="1"/>
          <p:nvPr/>
        </p:nvSpPr>
        <p:spPr>
          <a:xfrm>
            <a:off x="4020699" y="2235050"/>
            <a:ext cx="606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B1AA0AD-3322-F497-0190-3799D708D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243" y="2057977"/>
            <a:ext cx="9298637" cy="137102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C011A5CB-371C-6508-AF22-E21A2D294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43" y="3992935"/>
            <a:ext cx="6356553" cy="161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41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226</Words>
  <Application>Microsoft Office PowerPoint</Application>
  <PresentationFormat>寬螢幕</PresentationFormat>
  <Paragraphs>78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佈景主題</vt:lpstr>
      <vt:lpstr>統計計算</vt:lpstr>
      <vt:lpstr>第一次選到跑車的機率估計值分布</vt:lpstr>
      <vt:lpstr>第一次選到跑車的機率估計值分布</vt:lpstr>
      <vt:lpstr>第一次選到跑車的機率估計值分布</vt:lpstr>
      <vt:lpstr>第一次選到跑車的機率估計值分布</vt:lpstr>
      <vt:lpstr>換門選到跑車的機率估計值分布</vt:lpstr>
      <vt:lpstr>換門選到跑車的機率估計值分布</vt:lpstr>
      <vt:lpstr>換門選到跑車的機率估計值分布</vt:lpstr>
      <vt:lpstr>換門選到跑車的機率估計值分布</vt:lpstr>
      <vt:lpstr>換門選到跑車的機率bootstrap</vt:lpstr>
      <vt:lpstr>換門選到跑車的機率jacknife</vt:lpstr>
      <vt:lpstr>換門與不換門選到跑車的機率是否有差</vt:lpstr>
      <vt:lpstr>使用MCMC估計換門的勝率</vt:lpstr>
      <vt:lpstr>樹狀圖</vt:lpstr>
      <vt:lpstr>換門的勝率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5</cp:revision>
  <dcterms:created xsi:type="dcterms:W3CDTF">2026-05-11T01:11:19Z</dcterms:created>
  <dcterms:modified xsi:type="dcterms:W3CDTF">2026-05-12T05:51:13Z</dcterms:modified>
</cp:coreProperties>
</file>